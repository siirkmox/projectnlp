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0312FF-DC50-4005-9ADC-3EF4417BC3CE}" v="230" dt="2026-04-18T18:58:24.1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147a6bd48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147a6bd48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47a6bd48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47a6bd48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2800" b="1" dirty="0" err="1">
                <a:solidFill>
                  <a:srgbClr val="000000"/>
                </a:solidFill>
              </a:rPr>
              <a:t>Análisis</a:t>
            </a:r>
            <a:r>
              <a:rPr sz="2800" b="1" dirty="0">
                <a:solidFill>
                  <a:srgbClr val="000000"/>
                </a:solidFill>
              </a:rPr>
              <a:t> de </a:t>
            </a:r>
            <a:r>
              <a:rPr sz="2800" b="1" dirty="0" err="1">
                <a:solidFill>
                  <a:srgbClr val="000000"/>
                </a:solidFill>
              </a:rPr>
              <a:t>Reseñas</a:t>
            </a:r>
            <a:r>
              <a:rPr sz="2800" b="1" dirty="0">
                <a:solidFill>
                  <a:srgbClr val="000000"/>
                </a:solidFill>
              </a:rPr>
              <a:t> </a:t>
            </a:r>
            <a:r>
              <a:rPr sz="2800" b="1" dirty="0" err="1">
                <a:solidFill>
                  <a:srgbClr val="000000"/>
                </a:solidFill>
              </a:rPr>
              <a:t>en</a:t>
            </a:r>
            <a:r>
              <a:rPr sz="2800" b="1" dirty="0">
                <a:solidFill>
                  <a:srgbClr val="000000"/>
                </a:solidFill>
              </a:rPr>
              <a:t> Trustpilot</a:t>
            </a: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310896" y="3108960"/>
            <a:ext cx="8522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6B35"/>
                </a:solidFill>
              </a:rPr>
              <a:t>Fanatical.com  |  Events &amp; Entertainment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" y="3749039"/>
            <a:ext cx="85222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</a:rPr>
              <a:t>Master en Data Science &amp; IA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0000"/>
                </a:solidFill>
              </a:rPr>
              <a:t>Objetivos y Asunciones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2300785" y="1152475"/>
            <a:ext cx="6531665" cy="1413391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sz="4000" dirty="0">
                <a:solidFill>
                  <a:srgbClr val="000000"/>
                </a:solidFill>
              </a:rPr>
              <a:t>1.  </a:t>
            </a:r>
            <a:r>
              <a:rPr sz="4000" dirty="0" err="1">
                <a:solidFill>
                  <a:srgbClr val="000000"/>
                </a:solidFill>
              </a:rPr>
              <a:t>Medir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el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sentimiento</a:t>
            </a:r>
            <a:r>
              <a:rPr sz="4000" dirty="0">
                <a:solidFill>
                  <a:srgbClr val="000000"/>
                </a:solidFill>
              </a:rPr>
              <a:t> global de las </a:t>
            </a:r>
            <a:r>
              <a:rPr sz="4000" dirty="0" err="1">
                <a:solidFill>
                  <a:srgbClr val="000000"/>
                </a:solidFill>
              </a:rPr>
              <a:t>reseñas</a:t>
            </a:r>
            <a:r>
              <a:rPr sz="4000" dirty="0">
                <a:solidFill>
                  <a:srgbClr val="000000"/>
                </a:solidFill>
              </a:rPr>
              <a:t> de </a:t>
            </a:r>
            <a:r>
              <a:rPr sz="4000" dirty="0" err="1">
                <a:solidFill>
                  <a:srgbClr val="000000"/>
                </a:solidFill>
              </a:rPr>
              <a:t>Fanatical</a:t>
            </a:r>
            <a:r>
              <a:rPr sz="4000" dirty="0">
                <a:solidFill>
                  <a:srgbClr val="000000"/>
                </a:solidFill>
              </a:rPr>
              <a:t> y </a:t>
            </a:r>
            <a:r>
              <a:rPr sz="4000" dirty="0" err="1">
                <a:solidFill>
                  <a:srgbClr val="000000"/>
                </a:solidFill>
              </a:rPr>
              <a:t>compararlo</a:t>
            </a:r>
            <a:r>
              <a:rPr sz="4000" dirty="0">
                <a:solidFill>
                  <a:srgbClr val="000000"/>
                </a:solidFill>
              </a:rPr>
              <a:t> con la competencia.</a:t>
            </a:r>
            <a:endParaRPr lang="es-ES" sz="4000">
              <a:solidFill>
                <a:srgbClr val="595959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sz="4000" dirty="0">
                <a:solidFill>
                  <a:srgbClr val="000000"/>
                </a:solidFill>
              </a:rPr>
              <a:t>2.  </a:t>
            </a:r>
            <a:r>
              <a:rPr sz="4000" dirty="0" err="1">
                <a:solidFill>
                  <a:srgbClr val="000000"/>
                </a:solidFill>
              </a:rPr>
              <a:t>Identificar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los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principales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temas</a:t>
            </a:r>
            <a:r>
              <a:rPr sz="4000" dirty="0">
                <a:solidFill>
                  <a:srgbClr val="000000"/>
                </a:solidFill>
              </a:rPr>
              <a:t> (</a:t>
            </a:r>
            <a:r>
              <a:rPr sz="4000" dirty="0" err="1">
                <a:solidFill>
                  <a:srgbClr val="000000"/>
                </a:solidFill>
              </a:rPr>
              <a:t>topics</a:t>
            </a:r>
            <a:r>
              <a:rPr sz="4000" dirty="0">
                <a:solidFill>
                  <a:srgbClr val="000000"/>
                </a:solidFill>
              </a:rPr>
              <a:t>) </a:t>
            </a:r>
            <a:r>
              <a:rPr sz="4000" dirty="0" err="1">
                <a:solidFill>
                  <a:srgbClr val="000000"/>
                </a:solidFill>
              </a:rPr>
              <a:t>que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tratan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los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usuarios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en</a:t>
            </a:r>
            <a:r>
              <a:rPr sz="4000" dirty="0">
                <a:solidFill>
                  <a:srgbClr val="000000"/>
                </a:solidFill>
              </a:rPr>
              <a:t> sus reseñas.</a:t>
            </a:r>
            <a:endParaRPr lang="es-ES" sz="4000">
              <a:solidFill>
                <a:srgbClr val="595959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sz="4000" dirty="0">
                <a:solidFill>
                  <a:srgbClr val="000000"/>
                </a:solidFill>
              </a:rPr>
              <a:t>3.  </a:t>
            </a:r>
            <a:r>
              <a:rPr sz="4000" dirty="0" err="1">
                <a:solidFill>
                  <a:srgbClr val="000000"/>
                </a:solidFill>
              </a:rPr>
              <a:t>Cruzar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sentimiento</a:t>
            </a:r>
            <a:r>
              <a:rPr sz="4000" dirty="0">
                <a:solidFill>
                  <a:srgbClr val="000000"/>
                </a:solidFill>
              </a:rPr>
              <a:t> y </a:t>
            </a:r>
            <a:r>
              <a:rPr sz="4000" dirty="0" err="1">
                <a:solidFill>
                  <a:srgbClr val="000000"/>
                </a:solidFill>
              </a:rPr>
              <a:t>topics</a:t>
            </a:r>
            <a:r>
              <a:rPr sz="4000" dirty="0">
                <a:solidFill>
                  <a:srgbClr val="000000"/>
                </a:solidFill>
              </a:rPr>
              <a:t> para </a:t>
            </a:r>
            <a:r>
              <a:rPr sz="4000" dirty="0" err="1">
                <a:solidFill>
                  <a:srgbClr val="000000"/>
                </a:solidFill>
              </a:rPr>
              <a:t>detectar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fortalezas</a:t>
            </a:r>
            <a:r>
              <a:rPr sz="4000" dirty="0">
                <a:solidFill>
                  <a:srgbClr val="000000"/>
                </a:solidFill>
              </a:rPr>
              <a:t> y </a:t>
            </a:r>
            <a:r>
              <a:rPr sz="4000" dirty="0" err="1">
                <a:solidFill>
                  <a:srgbClr val="000000"/>
                </a:solidFill>
              </a:rPr>
              <a:t>áreas</a:t>
            </a:r>
            <a:r>
              <a:rPr sz="4000" dirty="0">
                <a:solidFill>
                  <a:srgbClr val="000000"/>
                </a:solidFill>
              </a:rPr>
              <a:t> de mejora.</a:t>
            </a:r>
            <a:endParaRPr lang="es-ES" sz="4000">
              <a:solidFill>
                <a:srgbClr val="000000"/>
              </a:solidFill>
            </a:endParaRPr>
          </a:p>
          <a:p>
            <a:pPr marL="0" lvl="0" indent="0" algn="l">
              <a:lnSpc>
                <a:spcPct val="114999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sz="4000" dirty="0">
                <a:solidFill>
                  <a:srgbClr val="000000"/>
                </a:solidFill>
              </a:rPr>
              <a:t>4.  </a:t>
            </a:r>
            <a:r>
              <a:rPr sz="4000" dirty="0" err="1">
                <a:solidFill>
                  <a:srgbClr val="000000"/>
                </a:solidFill>
              </a:rPr>
              <a:t>Proporcionar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recomendaciones</a:t>
            </a:r>
            <a:r>
              <a:rPr sz="4000" dirty="0">
                <a:solidFill>
                  <a:srgbClr val="000000"/>
                </a:solidFill>
              </a:rPr>
              <a:t> </a:t>
            </a:r>
            <a:r>
              <a:rPr sz="4000" dirty="0" err="1">
                <a:solidFill>
                  <a:srgbClr val="000000"/>
                </a:solidFill>
              </a:rPr>
              <a:t>accionables</a:t>
            </a:r>
            <a:r>
              <a:rPr sz="4000" dirty="0">
                <a:solidFill>
                  <a:srgbClr val="000000"/>
                </a:solidFill>
              </a:rPr>
              <a:t> al </a:t>
            </a:r>
            <a:r>
              <a:rPr sz="4000" dirty="0" err="1">
                <a:solidFill>
                  <a:srgbClr val="000000"/>
                </a:solidFill>
              </a:rPr>
              <a:t>equipo</a:t>
            </a:r>
            <a:r>
              <a:rPr sz="4000" dirty="0">
                <a:solidFill>
                  <a:srgbClr val="000000"/>
                </a:solidFill>
              </a:rPr>
              <a:t> de Customer Experience.</a:t>
            </a:r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752274" cy="141339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718206"/>
            <a:ext cx="1752274" cy="1850544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Asunciones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2292503" y="2717181"/>
            <a:ext cx="6539947" cy="1858826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sz="1000" dirty="0">
                <a:solidFill>
                  <a:srgbClr val="000000"/>
                </a:solidFill>
              </a:rPr>
              <a:t>·  </a:t>
            </a:r>
            <a:r>
              <a:rPr sz="1000" dirty="0" err="1">
                <a:solidFill>
                  <a:srgbClr val="000000"/>
                </a:solidFill>
              </a:rPr>
              <a:t>Dataset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balanceado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artificialmente</a:t>
            </a:r>
            <a:r>
              <a:rPr sz="1000" dirty="0">
                <a:solidFill>
                  <a:srgbClr val="000000"/>
                </a:solidFill>
              </a:rPr>
              <a:t>: </a:t>
            </a:r>
            <a:r>
              <a:rPr sz="1000" dirty="0" err="1">
                <a:solidFill>
                  <a:srgbClr val="000000"/>
                </a:solidFill>
              </a:rPr>
              <a:t>todas</a:t>
            </a:r>
            <a:r>
              <a:rPr sz="1000" dirty="0">
                <a:solidFill>
                  <a:srgbClr val="000000"/>
                </a:solidFill>
              </a:rPr>
              <a:t> las </a:t>
            </a:r>
            <a:r>
              <a:rPr sz="1000" dirty="0" err="1">
                <a:solidFill>
                  <a:srgbClr val="000000"/>
                </a:solidFill>
              </a:rPr>
              <a:t>empresas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tienen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exactamente</a:t>
            </a:r>
            <a:r>
              <a:rPr sz="1000" dirty="0">
                <a:solidFill>
                  <a:srgbClr val="000000"/>
                </a:solidFill>
              </a:rPr>
              <a:t> 20 </a:t>
            </a:r>
            <a:r>
              <a:rPr sz="1000" dirty="0" err="1">
                <a:solidFill>
                  <a:srgbClr val="000000"/>
                </a:solidFill>
              </a:rPr>
              <a:t>reseñas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por</a:t>
            </a:r>
            <a:r>
              <a:rPr sz="1000" dirty="0">
                <a:solidFill>
                  <a:srgbClr val="000000"/>
                </a:solidFill>
              </a:rPr>
              <a:t> estrella (1★–5★).</a:t>
            </a:r>
            <a:r>
              <a:rPr lang="es-ES" sz="1000" dirty="0">
                <a:solidFill>
                  <a:srgbClr val="000000"/>
                </a:solidFill>
              </a:rPr>
              <a:t> </a:t>
            </a:r>
            <a:r>
              <a:rPr sz="1000" dirty="0">
                <a:solidFill>
                  <a:srgbClr val="000000"/>
                </a:solidFill>
              </a:rPr>
              <a:t>La media de estrellas es 3.0 para </a:t>
            </a:r>
            <a:r>
              <a:rPr sz="1000" dirty="0" err="1">
                <a:solidFill>
                  <a:srgbClr val="000000"/>
                </a:solidFill>
              </a:rPr>
              <a:t>todas</a:t>
            </a:r>
            <a:r>
              <a:rPr sz="1000" dirty="0">
                <a:solidFill>
                  <a:srgbClr val="000000"/>
                </a:solidFill>
              </a:rPr>
              <a:t>. El </a:t>
            </a:r>
            <a:r>
              <a:rPr sz="1000" dirty="0" err="1">
                <a:solidFill>
                  <a:srgbClr val="000000"/>
                </a:solidFill>
              </a:rPr>
              <a:t>análisis</a:t>
            </a:r>
            <a:r>
              <a:rPr sz="1000" dirty="0">
                <a:solidFill>
                  <a:srgbClr val="000000"/>
                </a:solidFill>
              </a:rPr>
              <a:t> NLP del </a:t>
            </a:r>
            <a:r>
              <a:rPr sz="1000" dirty="0" err="1">
                <a:solidFill>
                  <a:srgbClr val="000000"/>
                </a:solidFill>
              </a:rPr>
              <a:t>texto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refleja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mejor</a:t>
            </a:r>
            <a:r>
              <a:rPr sz="1000" dirty="0">
                <a:solidFill>
                  <a:srgbClr val="000000"/>
                </a:solidFill>
              </a:rPr>
              <a:t> la realidad</a:t>
            </a:r>
            <a:r>
              <a:rPr lang="es-ES" sz="1000" dirty="0">
                <a:solidFill>
                  <a:srgbClr val="000000"/>
                </a:solidFill>
              </a:rPr>
              <a:t>.</a:t>
            </a:r>
            <a:endParaRPr lang="es-ES" sz="1000" dirty="0">
              <a:solidFill>
                <a:srgbClr val="595959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-ES" sz="1000">
                <a:solidFill>
                  <a:srgbClr val="000000"/>
                </a:solidFill>
              </a:rPr>
              <a:t>·</a:t>
            </a:r>
            <a:r>
              <a:rPr sz="1000">
                <a:solidFill>
                  <a:srgbClr val="000000"/>
                </a:solidFill>
              </a:rPr>
              <a:t>  Se </a:t>
            </a:r>
            <a:r>
              <a:rPr sz="1000" err="1">
                <a:solidFill>
                  <a:srgbClr val="000000"/>
                </a:solidFill>
              </a:rPr>
              <a:t>filtran</a:t>
            </a:r>
            <a:r>
              <a:rPr sz="1000" dirty="0">
                <a:solidFill>
                  <a:srgbClr val="000000"/>
                </a:solidFill>
              </a:rPr>
              <a:t> las 558 </a:t>
            </a:r>
            <a:r>
              <a:rPr sz="1000" err="1">
                <a:solidFill>
                  <a:srgbClr val="000000"/>
                </a:solidFill>
              </a:rPr>
              <a:t>empresas</a:t>
            </a:r>
            <a:r>
              <a:rPr sz="1000" dirty="0">
                <a:solidFill>
                  <a:srgbClr val="000000"/>
                </a:solidFill>
              </a:rPr>
              <a:t> con </a:t>
            </a:r>
            <a:r>
              <a:rPr sz="1000" err="1">
                <a:solidFill>
                  <a:srgbClr val="000000"/>
                </a:solidFill>
              </a:rPr>
              <a:t>exactamente</a:t>
            </a:r>
            <a:r>
              <a:rPr sz="1000" dirty="0">
                <a:solidFill>
                  <a:srgbClr val="000000"/>
                </a:solidFill>
              </a:rPr>
              <a:t> 100 </a:t>
            </a:r>
            <a:r>
              <a:rPr sz="1000" err="1">
                <a:solidFill>
                  <a:srgbClr val="000000"/>
                </a:solidFill>
              </a:rPr>
              <a:t>reseñas</a:t>
            </a:r>
            <a:r>
              <a:rPr sz="1000" dirty="0">
                <a:solidFill>
                  <a:srgbClr val="000000"/>
                </a:solidFill>
              </a:rPr>
              <a:t> para </a:t>
            </a:r>
            <a:r>
              <a:rPr sz="1000" err="1">
                <a:solidFill>
                  <a:srgbClr val="000000"/>
                </a:solidFill>
              </a:rPr>
              <a:t>garantizar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err="1">
                <a:solidFill>
                  <a:srgbClr val="000000"/>
                </a:solidFill>
              </a:rPr>
              <a:t>comparabilidad</a:t>
            </a:r>
            <a:r>
              <a:rPr sz="1000" dirty="0">
                <a:solidFill>
                  <a:srgbClr val="000000"/>
                </a:solidFill>
              </a:rPr>
              <a:t> entre </a:t>
            </a:r>
            <a:r>
              <a:rPr sz="1000">
                <a:solidFill>
                  <a:srgbClr val="000000"/>
                </a:solidFill>
              </a:rPr>
              <a:t>empresas</a:t>
            </a:r>
            <a:r>
              <a:rPr lang="es-ES" sz="1000">
                <a:solidFill>
                  <a:srgbClr val="000000"/>
                </a:solidFill>
              </a:rPr>
              <a:t>.</a:t>
            </a:r>
            <a:endParaRPr lang="es-ES" sz="1000">
              <a:solidFill>
                <a:srgbClr val="595959"/>
              </a:solidFill>
            </a:endParaRP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-ES" sz="1000" dirty="0">
                <a:solidFill>
                  <a:srgbClr val="000000"/>
                </a:solidFill>
              </a:rPr>
              <a:t>·  </a:t>
            </a:r>
            <a:r>
              <a:rPr sz="1000" dirty="0" err="1">
                <a:solidFill>
                  <a:srgbClr val="000000"/>
                </a:solidFill>
              </a:rPr>
              <a:t>Sentimiento</a:t>
            </a:r>
            <a:r>
              <a:rPr sz="1000" dirty="0">
                <a:solidFill>
                  <a:srgbClr val="000000"/>
                </a:solidFill>
              </a:rPr>
              <a:t> con </a:t>
            </a:r>
            <a:r>
              <a:rPr sz="1000" dirty="0" err="1">
                <a:solidFill>
                  <a:srgbClr val="000000"/>
                </a:solidFill>
              </a:rPr>
              <a:t>DistilBERT</a:t>
            </a:r>
            <a:r>
              <a:rPr sz="1000" dirty="0">
                <a:solidFill>
                  <a:srgbClr val="000000"/>
                </a:solidFill>
              </a:rPr>
              <a:t> fine-</a:t>
            </a:r>
            <a:r>
              <a:rPr sz="1000" dirty="0" err="1">
                <a:solidFill>
                  <a:srgbClr val="000000"/>
                </a:solidFill>
              </a:rPr>
              <a:t>tuned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en</a:t>
            </a:r>
            <a:r>
              <a:rPr sz="1000" dirty="0">
                <a:solidFill>
                  <a:srgbClr val="000000"/>
                </a:solidFill>
              </a:rPr>
              <a:t> SST-2 (</a:t>
            </a:r>
            <a:r>
              <a:rPr sz="1000" dirty="0" err="1">
                <a:solidFill>
                  <a:srgbClr val="000000"/>
                </a:solidFill>
              </a:rPr>
              <a:t>inglés</a:t>
            </a:r>
            <a:r>
              <a:rPr lang="es-ES" sz="1000" dirty="0">
                <a:solidFill>
                  <a:srgbClr val="000000"/>
                </a:solidFill>
              </a:rPr>
              <a:t>).</a:t>
            </a:r>
          </a:p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s-ES" sz="1000" dirty="0">
                <a:solidFill>
                  <a:srgbClr val="000000"/>
                </a:solidFill>
              </a:rPr>
              <a:t>·</a:t>
            </a:r>
            <a:r>
              <a:rPr sz="1000" dirty="0">
                <a:solidFill>
                  <a:srgbClr val="000000"/>
                </a:solidFill>
              </a:rPr>
              <a:t>  El </a:t>
            </a:r>
            <a:r>
              <a:rPr sz="1000" dirty="0" err="1">
                <a:solidFill>
                  <a:srgbClr val="000000"/>
                </a:solidFill>
              </a:rPr>
              <a:t>modelo</a:t>
            </a:r>
            <a:r>
              <a:rPr sz="1000" dirty="0">
                <a:solidFill>
                  <a:srgbClr val="000000"/>
                </a:solidFill>
              </a:rPr>
              <a:t> de topics (NMF) se </a:t>
            </a:r>
            <a:r>
              <a:rPr sz="1000" dirty="0" err="1">
                <a:solidFill>
                  <a:srgbClr val="000000"/>
                </a:solidFill>
              </a:rPr>
              <a:t>entrena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sobre</a:t>
            </a:r>
            <a:r>
              <a:rPr sz="1000" dirty="0">
                <a:solidFill>
                  <a:srgbClr val="000000"/>
                </a:solidFill>
              </a:rPr>
              <a:t> Fanatical y se </a:t>
            </a:r>
            <a:r>
              <a:rPr sz="1000" dirty="0" err="1">
                <a:solidFill>
                  <a:srgbClr val="000000"/>
                </a:solidFill>
              </a:rPr>
              <a:t>aplica</a:t>
            </a:r>
            <a:r>
              <a:rPr sz="1000" dirty="0">
                <a:solidFill>
                  <a:srgbClr val="000000"/>
                </a:solidFill>
              </a:rPr>
              <a:t> al sector </a:t>
            </a:r>
            <a:r>
              <a:rPr sz="1000" dirty="0" err="1">
                <a:solidFill>
                  <a:srgbClr val="000000"/>
                </a:solidFill>
              </a:rPr>
              <a:t>completo</a:t>
            </a:r>
            <a:r>
              <a:rPr sz="1000" dirty="0">
                <a:solidFill>
                  <a:srgbClr val="000000"/>
                </a:solidFill>
              </a:rPr>
              <a:t> para </a:t>
            </a:r>
            <a:r>
              <a:rPr sz="1000" dirty="0" err="1">
                <a:solidFill>
                  <a:srgbClr val="000000"/>
                </a:solidFill>
              </a:rPr>
              <a:t>que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los</a:t>
            </a:r>
            <a:r>
              <a:rPr sz="1000" dirty="0">
                <a:solidFill>
                  <a:srgbClr val="000000"/>
                </a:solidFill>
              </a:rPr>
              <a:t> topics </a:t>
            </a:r>
            <a:r>
              <a:rPr sz="1000" dirty="0" err="1">
                <a:solidFill>
                  <a:srgbClr val="000000"/>
                </a:solidFill>
              </a:rPr>
              <a:t>sean</a:t>
            </a:r>
            <a:r>
              <a:rPr sz="1000" dirty="0">
                <a:solidFill>
                  <a:srgbClr val="000000"/>
                </a:solidFill>
              </a:rPr>
              <a:t> comparables.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22967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0000"/>
                </a:solidFill>
              </a:rPr>
              <a:t>Análisis de Sentimiento</a:t>
            </a: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60" y="713563"/>
            <a:ext cx="256032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200" b="1">
                <a:solidFill>
                  <a:schemeClr val="tx1"/>
                </a:solidFill>
              </a:rPr>
              <a:t>28%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109761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Fanatical positivo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0400" y="713563"/>
            <a:ext cx="256032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200" b="1">
                <a:solidFill>
                  <a:schemeClr val="tx1"/>
                </a:solidFill>
              </a:rPr>
              <a:t>30%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0" y="109761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Media del sector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35040" y="713563"/>
            <a:ext cx="2560320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2200" b="1">
                <a:solidFill>
                  <a:schemeClr val="tx1"/>
                </a:solidFill>
              </a:rPr>
              <a:t>#10/25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1097611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Ranking sector</a:t>
            </a:r>
          </a:p>
        </p:txBody>
      </p:sp>
      <p:pic>
        <p:nvPicPr>
          <p:cNvPr id="75" name="Picture 74" descr="fig1_sentimiento_glob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29" y="1438193"/>
            <a:ext cx="8347877" cy="35452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000000"/>
                </a:solidFill>
              </a:rPr>
              <a:t>Análisis de Topics (NMF)</a:t>
            </a:r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10896" y="1707476"/>
            <a:ext cx="8522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TF-IDF + NMF extrae 6 temas principales de las reseñas de Fanatical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4320" y="2328368"/>
            <a:ext cx="4206240" cy="132343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000" b="1">
                <a:solidFill>
                  <a:srgbClr val="158158"/>
                </a:solidFill>
              </a:rPr>
              <a:t>Mystery Bundles</a:t>
            </a:r>
          </a:p>
          <a:p>
            <a:r>
              <a:rPr sz="1000" b="0" dirty="0">
                <a:solidFill>
                  <a:srgbClr val="000000"/>
                </a:solidFill>
              </a:rPr>
              <a:t>Calidad y </a:t>
            </a:r>
            <a:r>
              <a:rPr sz="1000" b="0" dirty="0" err="1">
                <a:solidFill>
                  <a:srgbClr val="000000"/>
                </a:solidFill>
              </a:rPr>
              <a:t>transparencia</a:t>
            </a:r>
            <a:r>
              <a:rPr sz="1000" b="0" dirty="0">
                <a:solidFill>
                  <a:srgbClr val="000000"/>
                </a:solidFill>
              </a:rPr>
              <a:t> de </a:t>
            </a:r>
            <a:r>
              <a:rPr sz="1000" b="0" dirty="0" err="1">
                <a:solidFill>
                  <a:srgbClr val="000000"/>
                </a:solidFill>
              </a:rPr>
              <a:t>los</a:t>
            </a:r>
            <a:r>
              <a:rPr sz="1000" b="0" dirty="0">
                <a:solidFill>
                  <a:srgbClr val="000000"/>
                </a:solidFill>
              </a:rPr>
              <a:t> bundles </a:t>
            </a:r>
            <a:r>
              <a:rPr sz="1000" b="0" dirty="0" err="1">
                <a:solidFill>
                  <a:srgbClr val="000000"/>
                </a:solidFill>
              </a:rPr>
              <a:t>aleatorios</a:t>
            </a:r>
            <a:r>
              <a:rPr sz="1000" b="0" dirty="0">
                <a:solidFill>
                  <a:srgbClr val="000000"/>
                </a:solidFill>
              </a:rPr>
              <a:t>.</a:t>
            </a:r>
          </a:p>
          <a:p>
            <a:endParaRPr sz="1000" b="0">
              <a:solidFill>
                <a:srgbClr val="000000"/>
              </a:solidFill>
            </a:endParaRPr>
          </a:p>
          <a:p>
            <a:r>
              <a:rPr sz="1000" b="1" dirty="0" err="1">
                <a:solidFill>
                  <a:srgbClr val="158158"/>
                </a:solidFill>
              </a:rPr>
              <a:t>Problemas</a:t>
            </a:r>
            <a:r>
              <a:rPr sz="1000" b="1" dirty="0">
                <a:solidFill>
                  <a:srgbClr val="158158"/>
                </a:solidFill>
              </a:rPr>
              <a:t> de Pago / </a:t>
            </a:r>
            <a:r>
              <a:rPr sz="1000" b="1" dirty="0" err="1">
                <a:solidFill>
                  <a:srgbClr val="158158"/>
                </a:solidFill>
              </a:rPr>
              <a:t>Antifraude</a:t>
            </a:r>
          </a:p>
          <a:p>
            <a:r>
              <a:rPr sz="1000" b="0" dirty="0">
                <a:solidFill>
                  <a:srgbClr val="000000"/>
                </a:solidFill>
              </a:rPr>
              <a:t>El </a:t>
            </a:r>
            <a:r>
              <a:rPr sz="1000" b="0" dirty="0" err="1">
                <a:solidFill>
                  <a:srgbClr val="000000"/>
                </a:solidFill>
              </a:rPr>
              <a:t>sistema</a:t>
            </a:r>
            <a:r>
              <a:rPr sz="1000" b="0" dirty="0">
                <a:solidFill>
                  <a:srgbClr val="000000"/>
                </a:solidFill>
              </a:rPr>
              <a:t> de </a:t>
            </a:r>
            <a:r>
              <a:rPr sz="1000" b="0" dirty="0" err="1">
                <a:solidFill>
                  <a:srgbClr val="000000"/>
                </a:solidFill>
              </a:rPr>
              <a:t>autorización</a:t>
            </a:r>
            <a:r>
              <a:rPr sz="1000" b="0" dirty="0">
                <a:solidFill>
                  <a:srgbClr val="000000"/>
                </a:solidFill>
              </a:rPr>
              <a:t> manual </a:t>
            </a:r>
            <a:r>
              <a:rPr sz="1000" b="0" dirty="0" err="1">
                <a:solidFill>
                  <a:srgbClr val="000000"/>
                </a:solidFill>
              </a:rPr>
              <a:t>bloquea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compras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legítimas</a:t>
            </a:r>
            <a:r>
              <a:rPr sz="1000" b="0" dirty="0">
                <a:solidFill>
                  <a:srgbClr val="000000"/>
                </a:solidFill>
              </a:rPr>
              <a:t>.</a:t>
            </a:r>
          </a:p>
          <a:p>
            <a:endParaRPr sz="1000" b="0">
              <a:solidFill>
                <a:srgbClr val="000000"/>
              </a:solidFill>
            </a:endParaRPr>
          </a:p>
          <a:p>
            <a:r>
              <a:rPr sz="1000" b="1" dirty="0" err="1">
                <a:solidFill>
                  <a:srgbClr val="158158"/>
                </a:solidFill>
              </a:rPr>
              <a:t>Experiencia</a:t>
            </a:r>
            <a:r>
              <a:rPr sz="1000" b="1" dirty="0">
                <a:solidFill>
                  <a:srgbClr val="158158"/>
                </a:solidFill>
              </a:rPr>
              <a:t> de </a:t>
            </a:r>
            <a:r>
              <a:rPr sz="1000" b="1" dirty="0" err="1">
                <a:solidFill>
                  <a:srgbClr val="158158"/>
                </a:solidFill>
              </a:rPr>
              <a:t>Compra</a:t>
            </a:r>
            <a:r>
              <a:rPr sz="1000" b="1" dirty="0">
                <a:solidFill>
                  <a:srgbClr val="158158"/>
                </a:solidFill>
              </a:rPr>
              <a:t> </a:t>
            </a:r>
            <a:r>
              <a:rPr sz="1000" b="1" dirty="0" err="1">
                <a:solidFill>
                  <a:srgbClr val="158158"/>
                </a:solidFill>
              </a:rPr>
              <a:t>Positiva</a:t>
            </a:r>
          </a:p>
          <a:p>
            <a:r>
              <a:rPr sz="1000" b="0" dirty="0" err="1">
                <a:solidFill>
                  <a:srgbClr val="000000"/>
                </a:solidFill>
              </a:rPr>
              <a:t>Proceso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fluido</a:t>
            </a:r>
            <a:r>
              <a:rPr sz="1000" b="0" dirty="0">
                <a:solidFill>
                  <a:srgbClr val="000000"/>
                </a:solidFill>
              </a:rPr>
              <a:t>: </a:t>
            </a:r>
            <a:r>
              <a:rPr sz="1000" b="0" dirty="0" err="1">
                <a:solidFill>
                  <a:srgbClr val="000000"/>
                </a:solidFill>
              </a:rPr>
              <a:t>compra</a:t>
            </a:r>
            <a:r>
              <a:rPr sz="1000" b="0" dirty="0">
                <a:solidFill>
                  <a:srgbClr val="000000"/>
                </a:solidFill>
              </a:rPr>
              <a:t>, </a:t>
            </a:r>
            <a:r>
              <a:rPr sz="1000" b="0" dirty="0" err="1">
                <a:solidFill>
                  <a:srgbClr val="000000"/>
                </a:solidFill>
              </a:rPr>
              <a:t>entrega</a:t>
            </a:r>
            <a:r>
              <a:rPr sz="1000" b="0" dirty="0">
                <a:solidFill>
                  <a:srgbClr val="000000"/>
                </a:solidFill>
              </a:rPr>
              <a:t> de keys y </a:t>
            </a:r>
            <a:r>
              <a:rPr sz="1000" b="0" dirty="0" err="1">
                <a:solidFill>
                  <a:srgbClr val="000000"/>
                </a:solidFill>
              </a:rPr>
              <a:t>activación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en</a:t>
            </a:r>
            <a:r>
              <a:rPr sz="1000" b="0" dirty="0">
                <a:solidFill>
                  <a:srgbClr val="000000"/>
                </a:solidFill>
              </a:rPr>
              <a:t> Steam.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59" y="2328368"/>
            <a:ext cx="4206240" cy="1323439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000" b="1" dirty="0" err="1">
                <a:solidFill>
                  <a:srgbClr val="158158"/>
                </a:solidFill>
              </a:rPr>
              <a:t>Atención</a:t>
            </a:r>
            <a:r>
              <a:rPr sz="1000" b="1" dirty="0">
                <a:solidFill>
                  <a:srgbClr val="158158"/>
                </a:solidFill>
              </a:rPr>
              <a:t> al </a:t>
            </a:r>
            <a:r>
              <a:rPr sz="1000" b="1" dirty="0" err="1">
                <a:solidFill>
                  <a:srgbClr val="158158"/>
                </a:solidFill>
              </a:rPr>
              <a:t>Cliente</a:t>
            </a:r>
            <a:r>
              <a:rPr sz="1000" b="1" dirty="0">
                <a:solidFill>
                  <a:srgbClr val="158158"/>
                </a:solidFill>
              </a:rPr>
              <a:t> / </a:t>
            </a:r>
            <a:r>
              <a:rPr sz="1000" b="1" dirty="0" err="1">
                <a:solidFill>
                  <a:srgbClr val="158158"/>
                </a:solidFill>
              </a:rPr>
              <a:t>Incidencias</a:t>
            </a:r>
            <a:endParaRPr lang="es-ES" sz="1000" b="1" dirty="0" err="1">
              <a:solidFill>
                <a:srgbClr val="158158"/>
              </a:solidFill>
            </a:endParaRPr>
          </a:p>
          <a:p>
            <a:r>
              <a:rPr sz="1000" b="0" dirty="0" err="1">
                <a:solidFill>
                  <a:srgbClr val="000000"/>
                </a:solidFill>
              </a:rPr>
              <a:t>Gestión</a:t>
            </a:r>
            <a:r>
              <a:rPr sz="1000" b="0" dirty="0">
                <a:solidFill>
                  <a:srgbClr val="000000"/>
                </a:solidFill>
              </a:rPr>
              <a:t> de </a:t>
            </a:r>
            <a:r>
              <a:rPr sz="1000" b="0" dirty="0" err="1">
                <a:solidFill>
                  <a:srgbClr val="000000"/>
                </a:solidFill>
              </a:rPr>
              <a:t>reembolsos</a:t>
            </a:r>
            <a:r>
              <a:rPr sz="1000" b="0" dirty="0">
                <a:solidFill>
                  <a:srgbClr val="000000"/>
                </a:solidFill>
              </a:rPr>
              <a:t>, keys </a:t>
            </a:r>
            <a:r>
              <a:rPr sz="1000" b="0" dirty="0" err="1">
                <a:solidFill>
                  <a:srgbClr val="000000"/>
                </a:solidFill>
              </a:rPr>
              <a:t>erróneas</a:t>
            </a:r>
            <a:r>
              <a:rPr sz="1000" b="0" dirty="0">
                <a:solidFill>
                  <a:srgbClr val="000000"/>
                </a:solidFill>
              </a:rPr>
              <a:t> y </a:t>
            </a:r>
            <a:r>
              <a:rPr sz="1000" b="0" dirty="0" err="1">
                <a:solidFill>
                  <a:srgbClr val="000000"/>
                </a:solidFill>
              </a:rPr>
              <a:t>soporte</a:t>
            </a:r>
            <a:r>
              <a:rPr sz="1000" b="0" dirty="0">
                <a:solidFill>
                  <a:srgbClr val="000000"/>
                </a:solidFill>
              </a:rPr>
              <a:t>.</a:t>
            </a:r>
          </a:p>
          <a:p>
            <a:endParaRPr sz="1000" b="0">
              <a:solidFill>
                <a:srgbClr val="000000"/>
              </a:solidFill>
            </a:endParaRPr>
          </a:p>
          <a:p>
            <a:r>
              <a:rPr sz="1000" b="1" dirty="0" err="1">
                <a:solidFill>
                  <a:srgbClr val="158158"/>
                </a:solidFill>
              </a:rPr>
              <a:t>Fidelización</a:t>
            </a:r>
            <a:r>
              <a:rPr sz="1000" b="1" dirty="0">
                <a:solidFill>
                  <a:srgbClr val="158158"/>
                </a:solidFill>
              </a:rPr>
              <a:t> / </a:t>
            </a:r>
            <a:r>
              <a:rPr sz="1000" b="1" dirty="0" err="1">
                <a:solidFill>
                  <a:srgbClr val="158158"/>
                </a:solidFill>
              </a:rPr>
              <a:t>Usuarios</a:t>
            </a:r>
            <a:r>
              <a:rPr sz="1000" b="1" dirty="0">
                <a:solidFill>
                  <a:srgbClr val="158158"/>
                </a:solidFill>
              </a:rPr>
              <a:t> </a:t>
            </a:r>
            <a:r>
              <a:rPr sz="1000" b="1" dirty="0" err="1">
                <a:solidFill>
                  <a:srgbClr val="158158"/>
                </a:solidFill>
              </a:rPr>
              <a:t>Recurrentes</a:t>
            </a:r>
          </a:p>
          <a:p>
            <a:r>
              <a:rPr sz="1000" b="0" dirty="0" err="1">
                <a:solidFill>
                  <a:srgbClr val="000000"/>
                </a:solidFill>
              </a:rPr>
              <a:t>Usuarios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que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llevan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años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comprando</a:t>
            </a:r>
            <a:r>
              <a:rPr sz="1000" b="0" dirty="0">
                <a:solidFill>
                  <a:srgbClr val="000000"/>
                </a:solidFill>
              </a:rPr>
              <a:t> </a:t>
            </a:r>
            <a:r>
              <a:rPr sz="1000" b="0" dirty="0" err="1">
                <a:solidFill>
                  <a:srgbClr val="000000"/>
                </a:solidFill>
              </a:rPr>
              <a:t>en</a:t>
            </a:r>
            <a:r>
              <a:rPr sz="1000" b="0" dirty="0">
                <a:solidFill>
                  <a:srgbClr val="000000"/>
                </a:solidFill>
              </a:rPr>
              <a:t> la </a:t>
            </a:r>
            <a:r>
              <a:rPr sz="1000" b="0" dirty="0" err="1">
                <a:solidFill>
                  <a:srgbClr val="000000"/>
                </a:solidFill>
              </a:rPr>
              <a:t>plataforma</a:t>
            </a:r>
            <a:r>
              <a:rPr sz="1000" b="0" dirty="0">
                <a:solidFill>
                  <a:srgbClr val="000000"/>
                </a:solidFill>
              </a:rPr>
              <a:t>.</a:t>
            </a:r>
          </a:p>
          <a:p>
            <a:endParaRPr sz="1000" b="0">
              <a:solidFill>
                <a:srgbClr val="000000"/>
              </a:solidFill>
            </a:endParaRPr>
          </a:p>
          <a:p>
            <a:r>
              <a:rPr sz="1000" b="1" dirty="0" err="1">
                <a:solidFill>
                  <a:srgbClr val="158158"/>
                </a:solidFill>
              </a:rPr>
              <a:t>Precios</a:t>
            </a:r>
            <a:r>
              <a:rPr sz="1000" b="1" dirty="0">
                <a:solidFill>
                  <a:srgbClr val="158158"/>
                </a:solidFill>
              </a:rPr>
              <a:t> y Pagos</a:t>
            </a:r>
          </a:p>
          <a:p>
            <a:r>
              <a:rPr sz="1000" b="0" dirty="0" err="1">
                <a:solidFill>
                  <a:srgbClr val="000000"/>
                </a:solidFill>
              </a:rPr>
              <a:t>Percepción</a:t>
            </a:r>
            <a:r>
              <a:rPr sz="1000" b="0" dirty="0">
                <a:solidFill>
                  <a:srgbClr val="000000"/>
                </a:solidFill>
              </a:rPr>
              <a:t> del </a:t>
            </a:r>
            <a:r>
              <a:rPr sz="1000" b="0" dirty="0" err="1">
                <a:solidFill>
                  <a:srgbClr val="000000"/>
                </a:solidFill>
              </a:rPr>
              <a:t>precio</a:t>
            </a:r>
            <a:r>
              <a:rPr sz="1000" b="0" dirty="0">
                <a:solidFill>
                  <a:srgbClr val="000000"/>
                </a:solidFill>
              </a:rPr>
              <a:t>, </a:t>
            </a:r>
            <a:r>
              <a:rPr sz="1000" b="0" dirty="0" err="1">
                <a:solidFill>
                  <a:srgbClr val="000000"/>
                </a:solidFill>
              </a:rPr>
              <a:t>descuentos</a:t>
            </a:r>
            <a:r>
              <a:rPr sz="1000" b="0" dirty="0">
                <a:solidFill>
                  <a:srgbClr val="000000"/>
                </a:solidFill>
              </a:rPr>
              <a:t> y </a:t>
            </a:r>
            <a:r>
              <a:rPr sz="1000" b="0" dirty="0" err="1">
                <a:solidFill>
                  <a:srgbClr val="000000"/>
                </a:solidFill>
              </a:rPr>
              <a:t>problemas</a:t>
            </a:r>
            <a:r>
              <a:rPr sz="1000" b="0" dirty="0">
                <a:solidFill>
                  <a:srgbClr val="000000"/>
                </a:solidFill>
              </a:rPr>
              <a:t> con </a:t>
            </a:r>
            <a:r>
              <a:rPr sz="1000" b="0" dirty="0" err="1">
                <a:solidFill>
                  <a:srgbClr val="000000"/>
                </a:solidFill>
              </a:rPr>
              <a:t>tarjeta</a:t>
            </a:r>
            <a:r>
              <a:rPr sz="1000" b="0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" y="4709160"/>
            <a:ext cx="8522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</a:rPr>
              <a:t>Método: TF-IDF (unigramas + bigramas, max 3.000 términos) → NMF (6 componentes)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76"/>
          <p:cNvSpPr txBox="1"/>
          <p:nvPr/>
        </p:nvSpPr>
        <p:spPr>
          <a:xfrm>
            <a:off x="310896" y="4709160"/>
            <a:ext cx="8522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709159" y="1115568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74320" y="1115568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10896" y="804672"/>
            <a:ext cx="8522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10896" y="91440"/>
            <a:ext cx="8522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</a:rPr>
              <a:t>Sentimiento por Topic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0896" y="594360"/>
            <a:ext cx="85222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Fanatical destaca en Experiencia de Compra (+32 pp) pero sufre en Antifraude (-21 pp)</a:t>
            </a:r>
          </a:p>
        </p:txBody>
      </p:sp>
      <p:pic>
        <p:nvPicPr>
          <p:cNvPr id="80" name="Picture 79" descr="fig2_sentimiento_top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48" y="951506"/>
            <a:ext cx="7247612" cy="4031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882C37D-51D8-B967-9CE3-6A218F631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146" y="330446"/>
            <a:ext cx="7059707" cy="448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13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71E10391-211C-A4D5-8B59-477C4A851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04" y="203358"/>
            <a:ext cx="7992596" cy="473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3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246242"/>
            <a:ext cx="8520600" cy="4484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dirty="0" err="1">
                <a:solidFill>
                  <a:srgbClr val="000000"/>
                </a:solidFill>
              </a:rPr>
              <a:t>Conclusiones</a:t>
            </a:r>
            <a:r>
              <a:rPr sz="2000" b="1" dirty="0">
                <a:solidFill>
                  <a:srgbClr val="000000"/>
                </a:solidFill>
              </a:rPr>
              <a:t> y </a:t>
            </a:r>
            <a:r>
              <a:rPr sz="2000" b="1" dirty="0" err="1">
                <a:solidFill>
                  <a:srgbClr val="000000"/>
                </a:solidFill>
              </a:rPr>
              <a:t>Próximos</a:t>
            </a:r>
            <a:r>
              <a:rPr sz="2000" b="1" dirty="0">
                <a:solidFill>
                  <a:srgbClr val="000000"/>
                </a:solidFill>
              </a:rPr>
              <a:t> Pasos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2284221" y="821172"/>
            <a:ext cx="6548229" cy="2158823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sz="1000" dirty="0" err="1">
                <a:solidFill>
                  <a:srgbClr val="000000"/>
                </a:solidFill>
              </a:rPr>
              <a:t>Sentimiento</a:t>
            </a:r>
            <a:r>
              <a:rPr sz="1000" dirty="0">
                <a:solidFill>
                  <a:srgbClr val="000000"/>
                </a:solidFill>
              </a:rPr>
              <a:t> global: 28% </a:t>
            </a:r>
            <a:r>
              <a:rPr sz="1000" dirty="0" err="1">
                <a:solidFill>
                  <a:srgbClr val="000000"/>
                </a:solidFill>
              </a:rPr>
              <a:t>positivo</a:t>
            </a:r>
            <a:r>
              <a:rPr sz="1000" dirty="0">
                <a:solidFill>
                  <a:srgbClr val="000000"/>
                </a:solidFill>
              </a:rPr>
              <a:t> vs 30% del sector → ranking #10 de 25.</a:t>
            </a:r>
            <a:endParaRPr lang="es-ES" sz="1000"/>
          </a:p>
          <a:p>
            <a:r>
              <a:rPr sz="1000" dirty="0">
                <a:solidFill>
                  <a:srgbClr val="000000"/>
                </a:solidFill>
              </a:rPr>
              <a:t>FORTALEZA — </a:t>
            </a:r>
            <a:r>
              <a:rPr sz="1000" dirty="0" err="1">
                <a:solidFill>
                  <a:srgbClr val="000000"/>
                </a:solidFill>
              </a:rPr>
              <a:t>Experiencia</a:t>
            </a:r>
            <a:r>
              <a:rPr sz="1000" dirty="0">
                <a:solidFill>
                  <a:srgbClr val="000000"/>
                </a:solidFill>
              </a:rPr>
              <a:t> de </a:t>
            </a:r>
            <a:r>
              <a:rPr sz="1000" dirty="0" err="1">
                <a:solidFill>
                  <a:srgbClr val="000000"/>
                </a:solidFill>
              </a:rPr>
              <a:t>Compra</a:t>
            </a:r>
            <a:r>
              <a:rPr sz="1000" dirty="0">
                <a:solidFill>
                  <a:srgbClr val="000000"/>
                </a:solidFill>
              </a:rPr>
              <a:t>: 81% </a:t>
            </a:r>
            <a:r>
              <a:rPr sz="1000" dirty="0" err="1">
                <a:solidFill>
                  <a:srgbClr val="000000"/>
                </a:solidFill>
              </a:rPr>
              <a:t>positivo</a:t>
            </a:r>
            <a:r>
              <a:rPr sz="1000" dirty="0">
                <a:solidFill>
                  <a:srgbClr val="000000"/>
                </a:solidFill>
              </a:rPr>
              <a:t> (+32 </a:t>
            </a:r>
            <a:r>
              <a:rPr sz="1000" dirty="0" err="1">
                <a:solidFill>
                  <a:srgbClr val="000000"/>
                </a:solidFill>
              </a:rPr>
              <a:t>pp</a:t>
            </a:r>
            <a:r>
              <a:rPr sz="1000" dirty="0">
                <a:solidFill>
                  <a:srgbClr val="000000"/>
                </a:solidFill>
              </a:rPr>
              <a:t> vs sector).</a:t>
            </a:r>
            <a:endParaRPr lang="es-ES" sz="1000" dirty="0">
              <a:solidFill>
                <a:srgbClr val="000000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s-ES" sz="1000" dirty="0">
                <a:solidFill>
                  <a:srgbClr val="000000"/>
                </a:solidFill>
              </a:rPr>
              <a:t>     </a:t>
            </a:r>
            <a:r>
              <a:rPr sz="1000" dirty="0" err="1">
                <a:solidFill>
                  <a:srgbClr val="000000"/>
                </a:solidFill>
              </a:rPr>
              <a:t>Proceso</a:t>
            </a:r>
            <a:r>
              <a:rPr sz="1000" dirty="0">
                <a:solidFill>
                  <a:srgbClr val="000000"/>
                </a:solidFill>
              </a:rPr>
              <a:t> de </a:t>
            </a:r>
            <a:r>
              <a:rPr sz="1000" dirty="0" err="1">
                <a:solidFill>
                  <a:srgbClr val="000000"/>
                </a:solidFill>
              </a:rPr>
              <a:t>compra</a:t>
            </a:r>
            <a:r>
              <a:rPr sz="1000" dirty="0">
                <a:solidFill>
                  <a:srgbClr val="000000"/>
                </a:solidFill>
              </a:rPr>
              <a:t> y </a:t>
            </a:r>
            <a:r>
              <a:rPr sz="1000" dirty="0" err="1">
                <a:solidFill>
                  <a:srgbClr val="000000"/>
                </a:solidFill>
              </a:rPr>
              <a:t>entrega</a:t>
            </a:r>
            <a:r>
              <a:rPr sz="1000" dirty="0">
                <a:solidFill>
                  <a:srgbClr val="000000"/>
                </a:solidFill>
              </a:rPr>
              <a:t> de keys </a:t>
            </a:r>
            <a:r>
              <a:rPr sz="1000" dirty="0" err="1">
                <a:solidFill>
                  <a:srgbClr val="000000"/>
                </a:solidFill>
              </a:rPr>
              <a:t>valorado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muy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positivamente</a:t>
            </a:r>
            <a:r>
              <a:rPr sz="1000" dirty="0">
                <a:solidFill>
                  <a:srgbClr val="000000"/>
                </a:solidFill>
              </a:rPr>
              <a:t>.</a:t>
            </a:r>
            <a:endParaRPr sz="1000" dirty="0"/>
          </a:p>
          <a:p>
            <a:pPr marL="114300" indent="0">
              <a:lnSpc>
                <a:spcPct val="114999"/>
              </a:lnSpc>
              <a:buNone/>
            </a:pPr>
            <a:endParaRPr lang="es-ES" sz="1000" dirty="0">
              <a:solidFill>
                <a:srgbClr val="000000"/>
              </a:solidFill>
            </a:endParaRPr>
          </a:p>
          <a:p>
            <a:r>
              <a:rPr sz="1000" dirty="0">
                <a:solidFill>
                  <a:srgbClr val="000000"/>
                </a:solidFill>
              </a:rPr>
              <a:t>CRÍTICO — </a:t>
            </a:r>
            <a:r>
              <a:rPr sz="1000" dirty="0" err="1">
                <a:solidFill>
                  <a:srgbClr val="000000"/>
                </a:solidFill>
              </a:rPr>
              <a:t>Antifraude</a:t>
            </a:r>
            <a:r>
              <a:rPr sz="1000" dirty="0">
                <a:solidFill>
                  <a:srgbClr val="000000"/>
                </a:solidFill>
              </a:rPr>
              <a:t>: 0% </a:t>
            </a:r>
            <a:r>
              <a:rPr sz="1000" dirty="0" err="1">
                <a:solidFill>
                  <a:srgbClr val="000000"/>
                </a:solidFill>
              </a:rPr>
              <a:t>positivo</a:t>
            </a:r>
            <a:r>
              <a:rPr sz="1000" dirty="0">
                <a:solidFill>
                  <a:srgbClr val="000000"/>
                </a:solidFill>
              </a:rPr>
              <a:t> (-21 </a:t>
            </a:r>
            <a:r>
              <a:rPr sz="1000" dirty="0" err="1">
                <a:solidFill>
                  <a:srgbClr val="000000"/>
                </a:solidFill>
              </a:rPr>
              <a:t>pp</a:t>
            </a:r>
            <a:r>
              <a:rPr sz="1000" dirty="0">
                <a:solidFill>
                  <a:srgbClr val="000000"/>
                </a:solidFill>
              </a:rPr>
              <a:t> vs sector).</a:t>
            </a:r>
            <a:endParaRPr lang="es-ES" sz="1000" dirty="0">
              <a:solidFill>
                <a:srgbClr val="000000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s-ES" sz="1000" dirty="0">
                <a:solidFill>
                  <a:srgbClr val="000000"/>
                </a:solidFill>
              </a:rPr>
              <a:t>     </a:t>
            </a:r>
            <a:r>
              <a:rPr sz="1000" dirty="0">
                <a:solidFill>
                  <a:srgbClr val="000000"/>
                </a:solidFill>
              </a:rPr>
              <a:t>El </a:t>
            </a:r>
            <a:r>
              <a:rPr sz="1000" dirty="0" err="1">
                <a:solidFill>
                  <a:srgbClr val="000000"/>
                </a:solidFill>
              </a:rPr>
              <a:t>sistema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bloquea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compras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legítimas</a:t>
            </a:r>
            <a:r>
              <a:rPr sz="1000" dirty="0">
                <a:solidFill>
                  <a:srgbClr val="000000"/>
                </a:solidFill>
              </a:rPr>
              <a:t> de </a:t>
            </a:r>
            <a:r>
              <a:rPr sz="1000" dirty="0" err="1">
                <a:solidFill>
                  <a:srgbClr val="000000"/>
                </a:solidFill>
              </a:rPr>
              <a:t>usuarios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recurrentes</a:t>
            </a:r>
            <a:r>
              <a:rPr sz="1000" dirty="0">
                <a:solidFill>
                  <a:srgbClr val="000000"/>
                </a:solidFill>
              </a:rPr>
              <a:t>.</a:t>
            </a:r>
            <a:endParaRPr sz="1000" dirty="0"/>
          </a:p>
          <a:p>
            <a:pPr marL="114300" indent="0">
              <a:lnSpc>
                <a:spcPct val="114999"/>
              </a:lnSpc>
              <a:buNone/>
            </a:pPr>
            <a:endParaRPr lang="es-ES" sz="1000" dirty="0">
              <a:solidFill>
                <a:srgbClr val="000000"/>
              </a:solidFill>
            </a:endParaRPr>
          </a:p>
          <a:p>
            <a:r>
              <a:rPr sz="1000" dirty="0">
                <a:solidFill>
                  <a:srgbClr val="000000"/>
                </a:solidFill>
              </a:rPr>
              <a:t>PROBLEMA — Mystery Bundles: 17% </a:t>
            </a:r>
            <a:r>
              <a:rPr sz="1000" dirty="0" err="1">
                <a:solidFill>
                  <a:srgbClr val="000000"/>
                </a:solidFill>
              </a:rPr>
              <a:t>positivo</a:t>
            </a:r>
            <a:r>
              <a:rPr sz="1000" dirty="0">
                <a:solidFill>
                  <a:srgbClr val="000000"/>
                </a:solidFill>
              </a:rPr>
              <a:t> (-12 pp vs sector).</a:t>
            </a:r>
          </a:p>
          <a:p>
            <a:pPr marL="114300" indent="0">
              <a:buNone/>
            </a:pPr>
            <a:r>
              <a:rPr lang="es-ES" sz="1000" dirty="0">
                <a:solidFill>
                  <a:srgbClr val="000000"/>
                </a:solidFill>
              </a:rPr>
              <a:t>     </a:t>
            </a:r>
            <a:r>
              <a:rPr sz="1000" dirty="0" err="1">
                <a:solidFill>
                  <a:srgbClr val="000000"/>
                </a:solidFill>
              </a:rPr>
              <a:t>Percepción</a:t>
            </a:r>
            <a:r>
              <a:rPr sz="1000" dirty="0">
                <a:solidFill>
                  <a:srgbClr val="000000"/>
                </a:solidFill>
              </a:rPr>
              <a:t> de baja </a:t>
            </a:r>
            <a:r>
              <a:rPr sz="1000" dirty="0" err="1">
                <a:solidFill>
                  <a:srgbClr val="000000"/>
                </a:solidFill>
              </a:rPr>
              <a:t>calidad</a:t>
            </a:r>
            <a:r>
              <a:rPr sz="1000" dirty="0">
                <a:solidFill>
                  <a:srgbClr val="000000"/>
                </a:solidFill>
              </a:rPr>
              <a:t> y </a:t>
            </a:r>
            <a:r>
              <a:rPr sz="1000" dirty="0" err="1">
                <a:solidFill>
                  <a:srgbClr val="000000"/>
                </a:solidFill>
              </a:rPr>
              <a:t>falta</a:t>
            </a:r>
            <a:r>
              <a:rPr sz="1000" dirty="0">
                <a:solidFill>
                  <a:srgbClr val="000000"/>
                </a:solidFill>
              </a:rPr>
              <a:t> de </a:t>
            </a:r>
            <a:r>
              <a:rPr sz="1000" dirty="0" err="1">
                <a:solidFill>
                  <a:srgbClr val="000000"/>
                </a:solidFill>
              </a:rPr>
              <a:t>transparencia</a:t>
            </a:r>
            <a:r>
              <a:rPr sz="1000" dirty="0">
                <a:solidFill>
                  <a:srgbClr val="000000"/>
                </a:solidFill>
              </a:rPr>
              <a:t> del </a:t>
            </a:r>
            <a:r>
              <a:rPr sz="1000" dirty="0" err="1">
                <a:solidFill>
                  <a:srgbClr val="000000"/>
                </a:solidFill>
              </a:rPr>
              <a:t>contenido</a:t>
            </a:r>
            <a:r>
              <a:rPr lang="es-ES" sz="1000" dirty="0">
                <a:solidFill>
                  <a:srgbClr val="000000"/>
                </a:solidFill>
              </a:rPr>
              <a:t>.</a:t>
            </a:r>
            <a:endParaRPr sz="1000" dirty="0">
              <a:solidFill>
                <a:srgbClr val="000000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endParaRPr lang="es-ES" sz="1000" dirty="0">
              <a:solidFill>
                <a:srgbClr val="000000"/>
              </a:solidFill>
            </a:endParaRPr>
          </a:p>
          <a:p>
            <a:r>
              <a:rPr sz="1000" dirty="0">
                <a:solidFill>
                  <a:srgbClr val="000000"/>
                </a:solidFill>
              </a:rPr>
              <a:t>PROBLEMA — </a:t>
            </a:r>
            <a:r>
              <a:rPr sz="1000" dirty="0" err="1">
                <a:solidFill>
                  <a:srgbClr val="000000"/>
                </a:solidFill>
              </a:rPr>
              <a:t>Precios</a:t>
            </a:r>
            <a:r>
              <a:rPr sz="1000" dirty="0">
                <a:solidFill>
                  <a:srgbClr val="000000"/>
                </a:solidFill>
              </a:rPr>
              <a:t> y Pagos: 14% </a:t>
            </a:r>
            <a:r>
              <a:rPr sz="1000" dirty="0" err="1">
                <a:solidFill>
                  <a:srgbClr val="000000"/>
                </a:solidFill>
              </a:rPr>
              <a:t>positivo</a:t>
            </a:r>
            <a:r>
              <a:rPr sz="1000" dirty="0">
                <a:solidFill>
                  <a:srgbClr val="000000"/>
                </a:solidFill>
              </a:rPr>
              <a:t> (-10 pp vs sector).</a:t>
            </a:r>
          </a:p>
        </p:txBody>
      </p:sp>
      <p:sp>
        <p:nvSpPr>
          <p:cNvPr id="80" name="Google Shape;80;p17"/>
          <p:cNvSpPr/>
          <p:nvPr/>
        </p:nvSpPr>
        <p:spPr>
          <a:xfrm>
            <a:off x="313307" y="821197"/>
            <a:ext cx="1901360" cy="2158823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13306" y="3090923"/>
            <a:ext cx="1901360" cy="1817413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292503" y="3089897"/>
            <a:ext cx="6539947" cy="1825696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indent="0">
              <a:buNone/>
            </a:pPr>
            <a:r>
              <a:rPr lang="es-ES" sz="1000">
                <a:solidFill>
                  <a:srgbClr val="000000"/>
                </a:solidFill>
              </a:rPr>
              <a:t> </a:t>
            </a:r>
            <a:r>
              <a:rPr sz="1000">
                <a:solidFill>
                  <a:srgbClr val="000000"/>
                </a:solidFill>
              </a:rPr>
              <a:t>1.  Revisar el sistema de autorización manual de pagos.</a:t>
            </a:r>
            <a:endParaRPr lang="es-ES" sz="1000">
              <a:solidFill>
                <a:srgbClr val="595959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sz="1000" dirty="0">
                <a:solidFill>
                  <a:srgbClr val="000000"/>
                </a:solidFill>
              </a:rPr>
              <a:t>     Es el único </a:t>
            </a:r>
            <a:r>
              <a:rPr sz="1000" dirty="0" err="1">
                <a:solidFill>
                  <a:srgbClr val="000000"/>
                </a:solidFill>
              </a:rPr>
              <a:t>topic</a:t>
            </a:r>
            <a:r>
              <a:rPr sz="1000" dirty="0">
                <a:solidFill>
                  <a:srgbClr val="000000"/>
                </a:solidFill>
              </a:rPr>
              <a:t> con 0% de satisfacción. Prioridad máxima.</a:t>
            </a:r>
            <a:endParaRPr lang="es-ES" sz="1000" dirty="0">
              <a:solidFill>
                <a:srgbClr val="000000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endParaRPr lang="es-ES" sz="1000" dirty="0">
              <a:solidFill>
                <a:srgbClr val="000000"/>
              </a:solidFill>
            </a:endParaRPr>
          </a:p>
          <a:p>
            <a:pPr marL="114300" lvl="0" indent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dirty="0">
                <a:solidFill>
                  <a:srgbClr val="000000"/>
                </a:solidFill>
              </a:rPr>
              <a:t>2.  </a:t>
            </a:r>
            <a:r>
              <a:rPr sz="1000" dirty="0" err="1">
                <a:solidFill>
                  <a:srgbClr val="000000"/>
                </a:solidFill>
              </a:rPr>
              <a:t>Rediseñar</a:t>
            </a:r>
            <a:r>
              <a:rPr sz="1000" dirty="0">
                <a:solidFill>
                  <a:srgbClr val="000000"/>
                </a:solidFill>
              </a:rPr>
              <a:t> Mystery Bundles con </a:t>
            </a:r>
            <a:r>
              <a:rPr sz="1000" dirty="0" err="1">
                <a:solidFill>
                  <a:srgbClr val="000000"/>
                </a:solidFill>
              </a:rPr>
              <a:t>garantía</a:t>
            </a:r>
            <a:r>
              <a:rPr sz="1000" dirty="0">
                <a:solidFill>
                  <a:srgbClr val="000000"/>
                </a:solidFill>
              </a:rPr>
              <a:t> de </a:t>
            </a:r>
            <a:r>
              <a:rPr sz="1000" dirty="0" err="1">
                <a:solidFill>
                  <a:srgbClr val="000000"/>
                </a:solidFill>
              </a:rPr>
              <a:t>calidad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mínima</a:t>
            </a:r>
            <a:r>
              <a:rPr sz="1000" dirty="0">
                <a:solidFill>
                  <a:srgbClr val="000000"/>
                </a:solidFill>
              </a:rPr>
              <a:t>.</a:t>
            </a:r>
            <a:endParaRPr sz="1000"/>
          </a:p>
          <a:p>
            <a:pPr marL="114300" indent="0">
              <a:lnSpc>
                <a:spcPct val="114999"/>
              </a:lnSpc>
              <a:buNone/>
            </a:pPr>
            <a:r>
              <a:rPr lang="es-ES" sz="1000" dirty="0">
                <a:solidFill>
                  <a:srgbClr val="000000"/>
                </a:solidFill>
              </a:rPr>
              <a:t>  </a:t>
            </a:r>
            <a:r>
              <a:rPr sz="1000" dirty="0" err="1">
                <a:solidFill>
                  <a:srgbClr val="000000"/>
                </a:solidFill>
              </a:rPr>
              <a:t>Comunicar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el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contenido</a:t>
            </a:r>
            <a:r>
              <a:rPr sz="1000" dirty="0">
                <a:solidFill>
                  <a:srgbClr val="000000"/>
                </a:solidFill>
              </a:rPr>
              <a:t> antes de la </a:t>
            </a:r>
            <a:r>
              <a:rPr sz="1000" dirty="0" err="1">
                <a:solidFill>
                  <a:srgbClr val="000000"/>
                </a:solidFill>
              </a:rPr>
              <a:t>compra</a:t>
            </a:r>
            <a:r>
              <a:rPr sz="1000" dirty="0">
                <a:solidFill>
                  <a:srgbClr val="000000"/>
                </a:solidFill>
              </a:rPr>
              <a:t>.</a:t>
            </a:r>
            <a:endParaRPr sz="1000">
              <a:solidFill>
                <a:srgbClr val="595959"/>
              </a:solidFill>
            </a:endParaRPr>
          </a:p>
          <a:p>
            <a:endParaRPr sz="1000">
              <a:solidFill>
                <a:srgbClr val="000000"/>
              </a:solidFill>
            </a:endParaRPr>
          </a:p>
          <a:p>
            <a:pPr marL="114300" indent="0">
              <a:buNone/>
            </a:pPr>
            <a:r>
              <a:rPr sz="1000" dirty="0">
                <a:solidFill>
                  <a:srgbClr val="000000"/>
                </a:solidFill>
              </a:rPr>
              <a:t>3.  </a:t>
            </a:r>
            <a:r>
              <a:rPr sz="1000" dirty="0" err="1">
                <a:solidFill>
                  <a:srgbClr val="000000"/>
                </a:solidFill>
              </a:rPr>
              <a:t>Mejorar</a:t>
            </a:r>
            <a:r>
              <a:rPr sz="1000" dirty="0">
                <a:solidFill>
                  <a:srgbClr val="000000"/>
                </a:solidFill>
              </a:rPr>
              <a:t> la </a:t>
            </a:r>
            <a:r>
              <a:rPr sz="1000" dirty="0" err="1">
                <a:solidFill>
                  <a:srgbClr val="000000"/>
                </a:solidFill>
              </a:rPr>
              <a:t>comunicación</a:t>
            </a:r>
            <a:r>
              <a:rPr sz="1000" dirty="0">
                <a:solidFill>
                  <a:srgbClr val="000000"/>
                </a:solidFill>
              </a:rPr>
              <a:t> de </a:t>
            </a:r>
            <a:r>
              <a:rPr sz="1000" dirty="0" err="1">
                <a:solidFill>
                  <a:srgbClr val="000000"/>
                </a:solidFill>
              </a:rPr>
              <a:t>precios</a:t>
            </a:r>
            <a:r>
              <a:rPr sz="1000" dirty="0">
                <a:solidFill>
                  <a:srgbClr val="000000"/>
                </a:solidFill>
              </a:rPr>
              <a:t> vs </a:t>
            </a:r>
            <a:r>
              <a:rPr sz="1000" dirty="0" err="1">
                <a:solidFill>
                  <a:srgbClr val="000000"/>
                </a:solidFill>
              </a:rPr>
              <a:t>plataformas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competidoras</a:t>
            </a:r>
            <a:r>
              <a:rPr sz="1000" dirty="0">
                <a:solidFill>
                  <a:srgbClr val="000000"/>
                </a:solidFill>
              </a:rPr>
              <a:t>.</a:t>
            </a:r>
            <a:endParaRPr sz="1000">
              <a:solidFill>
                <a:srgbClr val="000000"/>
              </a:solidFill>
            </a:endParaRPr>
          </a:p>
          <a:p>
            <a:endParaRPr sz="1000">
              <a:solidFill>
                <a:srgbClr val="000000"/>
              </a:solidFill>
            </a:endParaRPr>
          </a:p>
          <a:p>
            <a:pPr marL="114300" indent="0">
              <a:buNone/>
            </a:pPr>
            <a:r>
              <a:rPr sz="1000" dirty="0">
                <a:solidFill>
                  <a:srgbClr val="000000"/>
                </a:solidFill>
              </a:rPr>
              <a:t>4.  </a:t>
            </a:r>
            <a:r>
              <a:rPr sz="1000" dirty="0" err="1">
                <a:solidFill>
                  <a:srgbClr val="000000"/>
                </a:solidFill>
              </a:rPr>
              <a:t>Ampliar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el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análisis</a:t>
            </a:r>
            <a:r>
              <a:rPr sz="1000" dirty="0">
                <a:solidFill>
                  <a:srgbClr val="000000"/>
                </a:solidFill>
              </a:rPr>
              <a:t> con </a:t>
            </a:r>
            <a:r>
              <a:rPr sz="1000" dirty="0" err="1">
                <a:solidFill>
                  <a:srgbClr val="000000"/>
                </a:solidFill>
              </a:rPr>
              <a:t>modelos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multilingüe</a:t>
            </a:r>
            <a:r>
              <a:rPr sz="1000" dirty="0">
                <a:solidFill>
                  <a:srgbClr val="000000"/>
                </a:solidFill>
              </a:rPr>
              <a:t> para </a:t>
            </a:r>
            <a:r>
              <a:rPr lang="es-ES" sz="1000" dirty="0">
                <a:solidFill>
                  <a:srgbClr val="000000"/>
                </a:solidFill>
              </a:rPr>
              <a:t>cubrir</a:t>
            </a:r>
            <a:endParaRPr lang="es-ES" sz="1000">
              <a:solidFill>
                <a:srgbClr val="000000"/>
              </a:solidFill>
            </a:endParaRPr>
          </a:p>
          <a:p>
            <a:pPr marL="114300" indent="0">
              <a:lnSpc>
                <a:spcPct val="114999"/>
              </a:lnSpc>
              <a:buNone/>
            </a:pPr>
            <a:r>
              <a:rPr lang="es-ES" sz="1000" dirty="0">
                <a:solidFill>
                  <a:srgbClr val="000000"/>
                </a:solidFill>
              </a:rPr>
              <a:t>  reseñas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en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otros</a:t>
            </a:r>
            <a:r>
              <a:rPr sz="1000" dirty="0">
                <a:solidFill>
                  <a:srgbClr val="000000"/>
                </a:solidFill>
              </a:rPr>
              <a:t> </a:t>
            </a:r>
            <a:r>
              <a:rPr sz="1000" dirty="0" err="1">
                <a:solidFill>
                  <a:srgbClr val="000000"/>
                </a:solidFill>
              </a:rPr>
              <a:t>idiomas</a:t>
            </a:r>
            <a:r>
              <a:rPr sz="1000" dirty="0">
                <a:solidFill>
                  <a:srgbClr val="000000"/>
                </a:solidFill>
              </a:rPr>
              <a:t> de la </a:t>
            </a:r>
            <a:r>
              <a:rPr sz="1000" dirty="0" err="1">
                <a:solidFill>
                  <a:srgbClr val="000000"/>
                </a:solidFill>
              </a:rPr>
              <a:t>plataforma</a:t>
            </a:r>
            <a:r>
              <a:rPr sz="1000" dirty="0">
                <a:solidFill>
                  <a:srgbClr val="000000"/>
                </a:solidFill>
              </a:rPr>
              <a:t> real.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8</Slides>
  <Notes>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Simple Light</vt:lpstr>
      <vt:lpstr>Análisis de Reseñas en Trustpilot</vt:lpstr>
      <vt:lpstr>Objetivos y Asunciones</vt:lpstr>
      <vt:lpstr>Análisis de Sentimiento</vt:lpstr>
      <vt:lpstr>Análisis de Topics (NMF)</vt:lpstr>
      <vt:lpstr>Presentación de PowerPoint</vt:lpstr>
      <vt:lpstr>Presentación de PowerPoint</vt:lpstr>
      <vt:lpstr>Presentación de PowerPoint</vt:lpstr>
      <vt:lpstr>Conclusiones y Próximos Pasos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90</cp:revision>
  <dcterms:modified xsi:type="dcterms:W3CDTF">2026-04-18T18:59:12Z</dcterms:modified>
</cp:coreProperties>
</file>